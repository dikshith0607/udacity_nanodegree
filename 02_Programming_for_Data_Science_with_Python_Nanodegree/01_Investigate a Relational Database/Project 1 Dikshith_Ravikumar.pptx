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7"/>
      <p:bold r:id="rId8"/>
      <p:italic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94" d="100"/>
          <a:sy n="194" d="100"/>
        </p:scale>
        <p:origin x="7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Euce.corp.bshg.com\mcw\PCP\PCP-SMS\02.%20SMSE\99b_Working%20folder%20Interns%20&amp;%20GGAs\2024_Dikshith\Udacity\Project%201\Query%201%20PPT%20answer.csv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Euce.corp.bshg.com\mcw\PCP\PCP-SMS\02.%20SMSE\99b_Working%20folder%20Interns%20&amp;%20GGAs\2024_Dikshith\Udacity\Project%201\Query%202%20PPT%20answer.csv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Euce.corp.bshg.com\mcw\PCP\PCP-SMS\02.%20SMSE\99b_Working%20folder%20Interns%20&amp;%20GGAs\2024_Dikshith\Udacity\Project%201\Query%203%20PPT%20answer.csv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\\Euce.corp.bshg.com\mcw\PCP\PCP-SMS\02.%20SMSE\99b_Working%20folder%20Interns%20&amp;%20GGAs\2024_Dikshith\Udacity\Project%201\Query%204%20PPT%20answer.csv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Number</a:t>
            </a:r>
            <a:r>
              <a:rPr lang="en-US" baseline="0" dirty="0"/>
              <a:t> of Movies rented out per category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0"/>
          <c:order val="0"/>
          <c:tx>
            <c:strRef>
              <c:f>'Query 1 PPT answer'!$B$1</c:f>
              <c:strCache>
                <c:ptCount val="1"/>
                <c:pt idx="0">
                  <c:v>rental_count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'Query 1 PPT answer'!$A$2:$A$7</c:f>
              <c:strCache>
                <c:ptCount val="6"/>
                <c:pt idx="0">
                  <c:v>Animation</c:v>
                </c:pt>
                <c:pt idx="1">
                  <c:v>Children</c:v>
                </c:pt>
                <c:pt idx="2">
                  <c:v>Classics</c:v>
                </c:pt>
                <c:pt idx="3">
                  <c:v>Comedy</c:v>
                </c:pt>
                <c:pt idx="4">
                  <c:v>Family</c:v>
                </c:pt>
                <c:pt idx="5">
                  <c:v>Music</c:v>
                </c:pt>
              </c:strCache>
            </c:strRef>
          </c:cat>
          <c:val>
            <c:numRef>
              <c:f>'Query 1 PPT answer'!$B$2:$B$7</c:f>
              <c:numCache>
                <c:formatCode>General</c:formatCode>
                <c:ptCount val="6"/>
                <c:pt idx="0">
                  <c:v>1166</c:v>
                </c:pt>
                <c:pt idx="1">
                  <c:v>945</c:v>
                </c:pt>
                <c:pt idx="2">
                  <c:v>939</c:v>
                </c:pt>
                <c:pt idx="3">
                  <c:v>941</c:v>
                </c:pt>
                <c:pt idx="4">
                  <c:v>1096</c:v>
                </c:pt>
                <c:pt idx="5">
                  <c:v>830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477-4003-A7B0-45668AE32F9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909937679"/>
        <c:axId val="909930959"/>
        <c:axId val="0"/>
      </c:bar3DChart>
      <c:catAx>
        <c:axId val="9099376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category_name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9930959"/>
        <c:crosses val="autoZero"/>
        <c:auto val="1"/>
        <c:lblAlgn val="ctr"/>
        <c:lblOffset val="100"/>
        <c:noMultiLvlLbl val="0"/>
      </c:catAx>
      <c:valAx>
        <c:axId val="9099309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Rental_count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909937679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Rent duration count per</a:t>
            </a:r>
            <a:r>
              <a:rPr lang="en-US" baseline="0" dirty="0"/>
              <a:t> Film Category  (Quartile 1)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'Query 2 PPT answer'!$C$1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chemeClr val="accent1"/>
            </a:solidFill>
            <a:ln w="19050">
              <a:solidFill>
                <a:schemeClr val="lt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'Query 2 PPT answer'!$A$2:$A$7</c:f>
              <c:strCache>
                <c:ptCount val="6"/>
                <c:pt idx="0">
                  <c:v>Animation</c:v>
                </c:pt>
                <c:pt idx="1">
                  <c:v>Children</c:v>
                </c:pt>
                <c:pt idx="2">
                  <c:v>Classics</c:v>
                </c:pt>
                <c:pt idx="3">
                  <c:v>Comedy</c:v>
                </c:pt>
                <c:pt idx="4">
                  <c:v>Family</c:v>
                </c:pt>
                <c:pt idx="5">
                  <c:v>Music</c:v>
                </c:pt>
              </c:strCache>
            </c:strRef>
          </c:cat>
          <c:val>
            <c:numRef>
              <c:f>'Query 2 PPT answer'!$C$2:$C$7</c:f>
              <c:numCache>
                <c:formatCode>General</c:formatCode>
                <c:ptCount val="6"/>
                <c:pt idx="0">
                  <c:v>22</c:v>
                </c:pt>
                <c:pt idx="1">
                  <c:v>14</c:v>
                </c:pt>
                <c:pt idx="2">
                  <c:v>14</c:v>
                </c:pt>
                <c:pt idx="3">
                  <c:v>17</c:v>
                </c:pt>
                <c:pt idx="4">
                  <c:v>15</c:v>
                </c:pt>
                <c:pt idx="5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914-4010-841D-88BE00B02B7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152119135"/>
        <c:axId val="1152101375"/>
      </c:barChart>
      <c:valAx>
        <c:axId val="1152101375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Count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52119135"/>
        <c:crossBetween val="between"/>
      </c:valAx>
      <c:catAx>
        <c:axId val="1152119135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/>
                  <a:t>Film</a:t>
                </a:r>
                <a:r>
                  <a:rPr lang="de-DE" baseline="0" dirty="0"/>
                  <a:t> </a:t>
                </a:r>
                <a:r>
                  <a:rPr lang="de-DE" baseline="0" dirty="0" err="1"/>
                  <a:t>category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1152101375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Rentals</a:t>
            </a:r>
            <a:r>
              <a:rPr lang="en-US" baseline="0" dirty="0"/>
              <a:t> count per Month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barChart>
        <c:barDir val="col"/>
        <c:grouping val="clustered"/>
        <c:varyColors val="0"/>
        <c:ser>
          <c:idx val="3"/>
          <c:order val="3"/>
          <c:tx>
            <c:strRef>
              <c:f>'Query 3 PPT answer'!$D$1</c:f>
              <c:strCache>
                <c:ptCount val="1"/>
                <c:pt idx="0">
                  <c:v>count_rentals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'Query 3 PPT answer'!$A$2:$A$4</c:f>
              <c:numCache>
                <c:formatCode>General</c:formatCode>
                <c:ptCount val="3"/>
                <c:pt idx="0">
                  <c:v>7</c:v>
                </c:pt>
                <c:pt idx="1">
                  <c:v>6</c:v>
                </c:pt>
                <c:pt idx="2">
                  <c:v>5</c:v>
                </c:pt>
              </c:numCache>
            </c:numRef>
          </c:cat>
          <c:val>
            <c:numRef>
              <c:f>'Query 3 PPT answer'!$D$2:$D$4</c:f>
              <c:numCache>
                <c:formatCode>General</c:formatCode>
                <c:ptCount val="3"/>
                <c:pt idx="0">
                  <c:v>3342</c:v>
                </c:pt>
                <c:pt idx="1">
                  <c:v>1163</c:v>
                </c:pt>
                <c:pt idx="2">
                  <c:v>558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3D-4348-8CD2-AAB97FCB5ACE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508635920"/>
        <c:axId val="50861816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'Query 3 PPT answer'!$A$1</c15:sqref>
                        </c15:formulaRef>
                      </c:ext>
                    </c:extLst>
                    <c:strCache>
                      <c:ptCount val="1"/>
                      <c:pt idx="0">
                        <c:v>rental_month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de-DE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>
                      <c:ext uri="{02D57815-91ED-43cb-92C2-25804820EDAC}">
                        <c15:formulaRef>
                          <c15:sqref>'Query 3 PPT answer'!$A$2:$A$4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</c:v>
                      </c:pt>
                      <c:pt idx="1">
                        <c:v>6</c:v>
                      </c:pt>
                      <c:pt idx="2">
                        <c:v>5</c:v>
                      </c:pt>
                    </c:numCache>
                  </c:numRef>
                </c:cat>
                <c:val>
                  <c:numRef>
                    <c:extLst>
                      <c:ext uri="{02D57815-91ED-43cb-92C2-25804820EDAC}">
                        <c15:formulaRef>
                          <c15:sqref>'Query 3 PPT answer'!$A$2:$A$4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</c:v>
                      </c:pt>
                      <c:pt idx="1">
                        <c:v>6</c:v>
                      </c:pt>
                      <c:pt idx="2">
                        <c:v>5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1-F43D-4348-8CD2-AAB97FCB5ACE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answer'!$B$1</c15:sqref>
                        </c15:formulaRef>
                      </c:ext>
                    </c:extLst>
                    <c:strCache>
                      <c:ptCount val="1"/>
                      <c:pt idx="0">
                        <c:v>rental_year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de-DE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answer'!$A$2:$A$4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</c:v>
                      </c:pt>
                      <c:pt idx="1">
                        <c:v>6</c:v>
                      </c:pt>
                      <c:pt idx="2">
                        <c:v>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answer'!$B$2:$B$4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2005</c:v>
                      </c:pt>
                      <c:pt idx="1">
                        <c:v>2005</c:v>
                      </c:pt>
                      <c:pt idx="2">
                        <c:v>2005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2-F43D-4348-8CD2-AAB97FCB5ACE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answer'!$C$1</c15:sqref>
                        </c15:formulaRef>
                      </c:ext>
                    </c:extLst>
                    <c:strCache>
                      <c:ptCount val="1"/>
                      <c:pt idx="0">
                        <c:v>store_id</c:v>
                      </c:pt>
                    </c:strCache>
                  </c:strRef>
                </c:tx>
                <c:spPr>
                  <a:solidFill>
                    <a:schemeClr val="accent3"/>
                  </a:solidFill>
                  <a:ln>
                    <a:noFill/>
                  </a:ln>
                  <a:effectLst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de-DE"/>
                    </a:p>
                  </c:txPr>
                  <c:dLblPos val="outEnd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 cap="flat" cmpd="sng" algn="ctr">
                            <a:solidFill>
                              <a:schemeClr val="tx1">
                                <a:lumMod val="35000"/>
                                <a:lumOff val="65000"/>
                              </a:schemeClr>
                            </a:solidFill>
                            <a:round/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answer'!$A$2:$A$4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7</c:v>
                      </c:pt>
                      <c:pt idx="1">
                        <c:v>6</c:v>
                      </c:pt>
                      <c:pt idx="2">
                        <c:v>5</c:v>
                      </c:pt>
                    </c:numCache>
                  </c:num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'Query 3 PPT answer'!$C$2:$C$4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</c:v>
                      </c:pt>
                      <c:pt idx="1">
                        <c:v>1</c:v>
                      </c:pt>
                      <c:pt idx="2">
                        <c:v>1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3-F43D-4348-8CD2-AAB97FCB5ACE}"/>
                  </c:ext>
                </c:extLst>
              </c15:ser>
            </c15:filteredBarSeries>
          </c:ext>
        </c:extLst>
      </c:barChart>
      <c:catAx>
        <c:axId val="508635920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Month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08618160"/>
        <c:crosses val="autoZero"/>
        <c:auto val="1"/>
        <c:lblAlgn val="ctr"/>
        <c:lblOffset val="100"/>
        <c:noMultiLvlLbl val="0"/>
      </c:catAx>
      <c:valAx>
        <c:axId val="50861816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Count_rentals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086359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de-DE" dirty="0"/>
              <a:t>Customer</a:t>
            </a:r>
            <a:r>
              <a:rPr lang="de-DE" baseline="0" dirty="0"/>
              <a:t> </a:t>
            </a:r>
            <a:r>
              <a:rPr lang="de-DE" baseline="0" dirty="0" err="1"/>
              <a:t>name</a:t>
            </a:r>
            <a:r>
              <a:rPr lang="de-DE" baseline="0" dirty="0"/>
              <a:t> </a:t>
            </a:r>
            <a:r>
              <a:rPr lang="de-DE" baseline="0" dirty="0" err="1"/>
              <a:t>vs</a:t>
            </a:r>
            <a:r>
              <a:rPr lang="de-DE" baseline="0" dirty="0"/>
              <a:t> </a:t>
            </a:r>
            <a:r>
              <a:rPr lang="de-DE" baseline="0" dirty="0" err="1"/>
              <a:t>amount</a:t>
            </a:r>
            <a:r>
              <a:rPr lang="de-DE" baseline="0" dirty="0"/>
              <a:t> </a:t>
            </a:r>
            <a:r>
              <a:rPr lang="de-DE" baseline="0" dirty="0" err="1"/>
              <a:t>paid</a:t>
            </a:r>
            <a:endParaRPr lang="de-DE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lineChart>
        <c:grouping val="stacked"/>
        <c:varyColors val="0"/>
        <c:ser>
          <c:idx val="0"/>
          <c:order val="0"/>
          <c:tx>
            <c:strRef>
              <c:f>'Query 4 PPT answer'!$C$1</c:f>
              <c:strCache>
                <c:ptCount val="1"/>
                <c:pt idx="0">
                  <c:v>pay_countpermon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'Query 4 PPT answer'!$B$2:$B$11</c:f>
              <c:strCache>
                <c:ptCount val="10"/>
                <c:pt idx="0">
                  <c:v>Ana Bradley</c:v>
                </c:pt>
                <c:pt idx="1">
                  <c:v>Clara Shaw</c:v>
                </c:pt>
                <c:pt idx="2">
                  <c:v>Curtis Irby</c:v>
                </c:pt>
                <c:pt idx="3">
                  <c:v>Eleanor Hunt</c:v>
                </c:pt>
                <c:pt idx="4">
                  <c:v>Karl Seal</c:v>
                </c:pt>
                <c:pt idx="5">
                  <c:v>Marcia Dean</c:v>
                </c:pt>
                <c:pt idx="6">
                  <c:v>Marion Snyder</c:v>
                </c:pt>
                <c:pt idx="7">
                  <c:v>Mike Way</c:v>
                </c:pt>
                <c:pt idx="8">
                  <c:v>Rhonda Kennedy</c:v>
                </c:pt>
                <c:pt idx="9">
                  <c:v>Tommy Collazo</c:v>
                </c:pt>
              </c:strCache>
            </c:strRef>
          </c:cat>
          <c:val>
            <c:numRef>
              <c:f>'Query 4 PPT answer'!$C$2:$C$11</c:f>
              <c:numCache>
                <c:formatCode>General</c:formatCode>
                <c:ptCount val="10"/>
                <c:pt idx="0">
                  <c:v>4</c:v>
                </c:pt>
                <c:pt idx="1">
                  <c:v>6</c:v>
                </c:pt>
                <c:pt idx="2">
                  <c:v>6</c:v>
                </c:pt>
                <c:pt idx="3">
                  <c:v>5</c:v>
                </c:pt>
                <c:pt idx="4">
                  <c:v>9</c:v>
                </c:pt>
                <c:pt idx="5">
                  <c:v>8</c:v>
                </c:pt>
                <c:pt idx="6">
                  <c:v>8</c:v>
                </c:pt>
                <c:pt idx="7">
                  <c:v>6</c:v>
                </c:pt>
                <c:pt idx="8">
                  <c:v>4</c:v>
                </c:pt>
                <c:pt idx="9">
                  <c:v>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EB0-4341-96AF-9520CFFAC0DD}"/>
            </c:ext>
          </c:extLst>
        </c:ser>
        <c:ser>
          <c:idx val="1"/>
          <c:order val="1"/>
          <c:tx>
            <c:strRef>
              <c:f>'Query 4 PPT answer'!$D$1</c:f>
              <c:strCache>
                <c:ptCount val="1"/>
                <c:pt idx="0">
                  <c:v>pay_amount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'Query 4 PPT answer'!$B$2:$B$11</c:f>
              <c:strCache>
                <c:ptCount val="10"/>
                <c:pt idx="0">
                  <c:v>Ana Bradley</c:v>
                </c:pt>
                <c:pt idx="1">
                  <c:v>Clara Shaw</c:v>
                </c:pt>
                <c:pt idx="2">
                  <c:v>Curtis Irby</c:v>
                </c:pt>
                <c:pt idx="3">
                  <c:v>Eleanor Hunt</c:v>
                </c:pt>
                <c:pt idx="4">
                  <c:v>Karl Seal</c:v>
                </c:pt>
                <c:pt idx="5">
                  <c:v>Marcia Dean</c:v>
                </c:pt>
                <c:pt idx="6">
                  <c:v>Marion Snyder</c:v>
                </c:pt>
                <c:pt idx="7">
                  <c:v>Mike Way</c:v>
                </c:pt>
                <c:pt idx="8">
                  <c:v>Rhonda Kennedy</c:v>
                </c:pt>
                <c:pt idx="9">
                  <c:v>Tommy Collazo</c:v>
                </c:pt>
              </c:strCache>
            </c:strRef>
          </c:cat>
          <c:val>
            <c:numRef>
              <c:f>'Query 4 PPT answer'!$D$2:$D$11</c:f>
              <c:numCache>
                <c:formatCode>General</c:formatCode>
                <c:ptCount val="10"/>
                <c:pt idx="0">
                  <c:v>19.96</c:v>
                </c:pt>
                <c:pt idx="1">
                  <c:v>22.94</c:v>
                </c:pt>
                <c:pt idx="2">
                  <c:v>22.94</c:v>
                </c:pt>
                <c:pt idx="3">
                  <c:v>22.95</c:v>
                </c:pt>
                <c:pt idx="4">
                  <c:v>41.91</c:v>
                </c:pt>
                <c:pt idx="5">
                  <c:v>37.92</c:v>
                </c:pt>
                <c:pt idx="6">
                  <c:v>44.92</c:v>
                </c:pt>
                <c:pt idx="7">
                  <c:v>35.94</c:v>
                </c:pt>
                <c:pt idx="8">
                  <c:v>19.96</c:v>
                </c:pt>
                <c:pt idx="9">
                  <c:v>25.93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EB0-4341-96AF-9520CFFAC0DD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516861855"/>
        <c:axId val="516867135"/>
      </c:lineChart>
      <c:catAx>
        <c:axId val="516861855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Customer_name</a:t>
                </a:r>
                <a:endParaRPr lang="de-DE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16867135"/>
        <c:crosses val="autoZero"/>
        <c:auto val="1"/>
        <c:lblAlgn val="ctr"/>
        <c:lblOffset val="100"/>
        <c:noMultiLvlLbl val="0"/>
      </c:catAx>
      <c:valAx>
        <c:axId val="51686713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de-DE" dirty="0" err="1"/>
                  <a:t>pay_count</a:t>
                </a:r>
                <a:r>
                  <a:rPr lang="de-DE" baseline="0" dirty="0"/>
                  <a:t> AND </a:t>
                </a:r>
                <a:r>
                  <a:rPr lang="de-DE" baseline="0" dirty="0" err="1"/>
                  <a:t>pay_amount</a:t>
                </a:r>
                <a:endParaRPr lang="de-DE" dirty="0"/>
              </a:p>
            </c:rich>
          </c:tx>
          <c:layout>
            <c:manualLayout>
              <c:xMode val="edge"/>
              <c:yMode val="edge"/>
              <c:x val="2.3885608963344053E-2"/>
              <c:y val="0.1747821066953115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de-DE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5168618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zero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d68f83b58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d68f83b58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1d6d4cc2e8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1d6d4cc2e8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1d6d4cc2e8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1d6d4cc2e8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1d6d4cc2e8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1d6d4cc2e8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body" idx="1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Animation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genre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were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most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rented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movies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followed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Family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genre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families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1: Which Category movie was most rented out by families ?</a:t>
            </a:r>
            <a:endParaRPr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A99A40D-5000-50AD-B956-22419A04996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14301822"/>
              </p:ext>
            </p:extLst>
          </p:nvPr>
        </p:nvGraphicFramePr>
        <p:xfrm>
          <a:off x="189781" y="1418449"/>
          <a:ext cx="4776719" cy="30725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Music film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category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was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rented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for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least time in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Quartile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  <a:b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</a:br>
            <a:b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Classics and Children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category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were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second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least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performer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in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Quartile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1.</a:t>
            </a:r>
            <a:endParaRPr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2: Which category film was rented for least time in Q</a:t>
            </a:r>
            <a:r>
              <a:rPr lang="de-DE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u</a:t>
            </a: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artile 1?</a:t>
            </a:r>
            <a:endParaRPr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3DF0DA71-63C2-DF60-329C-6260A491859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5719850"/>
              </p:ext>
            </p:extLst>
          </p:nvPr>
        </p:nvGraphicFramePr>
        <p:xfrm>
          <a:off x="157317" y="1513041"/>
          <a:ext cx="4572000" cy="2736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5158200" y="1418450"/>
            <a:ext cx="3591300" cy="3072600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As per the observation</a:t>
            </a:r>
            <a:b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In may store1sold 558 rentals,</a:t>
            </a:r>
            <a:b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in june 1163 rentals and</a:t>
            </a:r>
            <a:b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n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in july 3342 rentals.</a:t>
            </a:r>
            <a:endParaRPr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" name="Google Shape;70;p15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3: How many rentals did the store 1 have in month of May, June and July 2005</a:t>
            </a:r>
            <a:endParaRPr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8BA51A96-D3B0-952F-D3AE-F79DD1A5684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141442"/>
              </p:ext>
            </p:extLst>
          </p:nvPr>
        </p:nvGraphicFramePr>
        <p:xfrm>
          <a:off x="174056" y="1276709"/>
          <a:ext cx="4708495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5960852" y="1431984"/>
            <a:ext cx="3071005" cy="3059066"/>
          </a:xfrm>
          <a:prstGeom prst="rect">
            <a:avLst/>
          </a:prstGeom>
          <a:solidFill>
            <a:schemeClr val="accent4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Marion Snyder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paid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the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highest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44.92 in Feb 2005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followed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by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Karl Seal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who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de-DE" dirty="0" err="1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paid</a:t>
            </a:r>
            <a:r>
              <a:rPr lang="de-DE" dirty="0">
                <a:solidFill>
                  <a:schemeClr val="tx1"/>
                </a:solidFill>
                <a:latin typeface="Open Sans"/>
                <a:ea typeface="Open Sans"/>
                <a:cs typeface="Open Sans"/>
                <a:sym typeface="Open Sans"/>
              </a:rPr>
              <a:t> 41.91. </a:t>
            </a:r>
            <a:endParaRPr dirty="0">
              <a:solidFill>
                <a:schemeClr val="tx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95600"/>
          </a:xfrm>
          <a:prstGeom prst="rect">
            <a:avLst/>
          </a:prstGeom>
          <a:solidFill>
            <a:srgbClr val="073763"/>
          </a:solidFill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Query 4: Which customer paid the most in Feb 2005 ?</a:t>
            </a:r>
            <a:endParaRPr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A28E456-BB65-793B-D730-8DF5E84E4BC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8632443"/>
              </p:ext>
            </p:extLst>
          </p:nvPr>
        </p:nvGraphicFramePr>
        <p:xfrm>
          <a:off x="112142" y="1339810"/>
          <a:ext cx="5736567" cy="3151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On-screen Show (16:9)</PresentationFormat>
  <Paragraphs>20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Open Sans</vt:lpstr>
      <vt:lpstr>Simple Light</vt:lpstr>
      <vt:lpstr>Query 1: Which Category movie was most rented out by families ?</vt:lpstr>
      <vt:lpstr>Query 2: Which category film was rented for least time in Quartile 1?</vt:lpstr>
      <vt:lpstr>Query 3: How many rentals did the store 1 have in month of May, June and July 2005</vt:lpstr>
      <vt:lpstr>Query 4: Which customer paid the most in Feb 2005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Ravi Kumar Dikshith (BSH PCP-SMSE)</cp:lastModifiedBy>
  <cp:revision>5</cp:revision>
  <dcterms:modified xsi:type="dcterms:W3CDTF">2025-04-03T16:13:56Z</dcterms:modified>
</cp:coreProperties>
</file>